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34" r:id="rId4"/>
  </p:sldMasterIdLst>
  <p:notesMasterIdLst>
    <p:notesMasterId r:id="rId27"/>
  </p:notesMasterIdLst>
  <p:handoutMasterIdLst>
    <p:handoutMasterId r:id="rId28"/>
  </p:handoutMasterIdLst>
  <p:sldIdLst>
    <p:sldId id="256" r:id="rId5"/>
    <p:sldId id="257" r:id="rId6"/>
    <p:sldId id="345" r:id="rId7"/>
    <p:sldId id="347" r:id="rId8"/>
    <p:sldId id="346" r:id="rId9"/>
    <p:sldId id="348" r:id="rId10"/>
    <p:sldId id="349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60" r:id="rId20"/>
    <p:sldId id="370" r:id="rId21"/>
    <p:sldId id="361" r:id="rId22"/>
    <p:sldId id="363" r:id="rId23"/>
    <p:sldId id="365" r:id="rId24"/>
    <p:sldId id="364" r:id="rId25"/>
    <p:sldId id="30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1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7" autoAdjust="0"/>
    <p:restoredTop sz="93725" autoAdjust="0"/>
  </p:normalViewPr>
  <p:slideViewPr>
    <p:cSldViewPr snapToGrid="0">
      <p:cViewPr varScale="1">
        <p:scale>
          <a:sx n="89" d="100"/>
          <a:sy n="89" d="100"/>
        </p:scale>
        <p:origin x="235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183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hin Akram" userId="0950abbc4dc5f4bc" providerId="LiveId" clId="{5BEF7DA1-9454-4ADD-A3DC-26ECD5572D6E}"/>
    <pc:docChg chg="undo custSel modSld">
      <pc:chgData name="Arshin Akram" userId="0950abbc4dc5f4bc" providerId="LiveId" clId="{5BEF7DA1-9454-4ADD-A3DC-26ECD5572D6E}" dt="2025-12-12T10:19:51.864" v="31" actId="1076"/>
      <pc:docMkLst>
        <pc:docMk/>
      </pc:docMkLst>
      <pc:sldChg chg="modSp mod">
        <pc:chgData name="Arshin Akram" userId="0950abbc4dc5f4bc" providerId="LiveId" clId="{5BEF7DA1-9454-4ADD-A3DC-26ECD5572D6E}" dt="2025-12-12T10:19:51.864" v="31" actId="1076"/>
        <pc:sldMkLst>
          <pc:docMk/>
          <pc:sldMk cId="703580386" sldId="256"/>
        </pc:sldMkLst>
        <pc:spChg chg="mod">
          <ac:chgData name="Arshin Akram" userId="0950abbc4dc5f4bc" providerId="LiveId" clId="{5BEF7DA1-9454-4ADD-A3DC-26ECD5572D6E}" dt="2025-12-12T10:19:51.864" v="31" actId="1076"/>
          <ac:spMkLst>
            <pc:docMk/>
            <pc:sldMk cId="703580386" sldId="256"/>
            <ac:spMk id="2" creationId="{801FCCDB-6A4C-1808-5D8B-BD2BA2DDED2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47A63F-9D06-479D-A04D-717692D432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F70DC-6EDE-457C-B55A-39AC7DE41A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C06C4-C5A6-48FB-97F5-B20A44F857E9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987CF-42F5-4BB0-AD0D-1D64C35944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68FB4-296C-4F8C-BFA3-D7C3AD617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55657-0A12-495F-9FFA-D8F7554E7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32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2B2CC-0155-4E5E-A890-531D58ADF5B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80FBB-F712-42E7-8C2F-226D98798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5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80FBB-F712-42E7-8C2F-226D98798B3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87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3/1/20XX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24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689380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229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58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9346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8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62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5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484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94061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22498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3FB0C32-F044-4939-92E4-8BA39B7A3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-66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84BE8A-3E34-4967-9E7C-13EC8F6A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-663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BFF676-EC35-4FFD-8894-CA4F28307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DA1557-E095-4C82-B659-3AF550080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746250" y="-663"/>
            <a:ext cx="6857999" cy="685799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F34E5EF-94D7-4AE0-BDD1-81A3ECDE6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7040" y="1193411"/>
            <a:ext cx="5589934" cy="5737916"/>
          </a:xfrm>
          <a:prstGeom prst="ellipse">
            <a:avLst/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5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952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29E57E-3199-4AAA-B2D5-F93264FDA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6442672" y="193606"/>
            <a:ext cx="5760743" cy="5737917"/>
          </a:xfrm>
          <a:prstGeom prst="ellipse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5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1003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 descr="Tag=CustomerPhoto&#10;Crop=1&#10;Align=N/A">
            <a:extLst>
              <a:ext uri="{FF2B5EF4-FFF2-40B4-BE49-F238E27FC236}">
                <a16:creationId xmlns:a16="http://schemas.microsoft.com/office/drawing/2014/main" id="{8A791822-0971-4E61-A5E4-9AAD258F58E3}"/>
              </a:ext>
            </a:extLst>
          </p:cNvPr>
          <p:cNvPicPr>
            <a:picLocks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-663"/>
            <a:ext cx="12188952" cy="685800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86D7D99-F789-4EDA-861D-B6B994F05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1121700"/>
            <a:ext cx="9144000" cy="23876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mbria" panose="02040503050406030204" pitchFamily="18" charset="0"/>
                <a:cs typeface="Sabon Next LT" panose="020B0502040204020203" pitchFamily="2" charset="0"/>
              </a:rPr>
              <a:t>Click to edit Master title style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mbria" panose="02040503050406030204" pitchFamily="18" charset="0"/>
              <a:cs typeface="Sabon Next LT" panose="020B0502040204020203" pitchFamily="2" charset="0"/>
            </a:endParaRP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2B39487B-EA73-4D7B-93AA-D63B49F4DA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050" y="3600450"/>
            <a:ext cx="9144000" cy="24511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0371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3F98AFCE-98D2-46C5-82A8-E45659B17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F69999FB-8585-40F0-990C-6A0BAD1C8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768738E-7449-46C1-B7D3-844FE2BA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5992550" cy="2827422"/>
          </a:xfrm>
        </p:spPr>
        <p:txBody>
          <a:bodyPr anchor="t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FF04F9-E792-4C19-9FD5-44800CEB2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6085" y="914400"/>
            <a:ext cx="4377714" cy="282742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F2F9DF6-DFB9-44A8-B629-57F58893AD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538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927BC207-43FE-4B6A-AEBE-875B69CF9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91840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EBBF5499-9A70-4846-B98E-316EC17F9F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9048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7A79F30-D473-48F6-9AC2-286C7B70F3E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06256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11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BE04ED02-B678-4D1E-BEDA-7E28F9038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7" y="9278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E2C5A2-B8B2-47C5-8E1B-3A97E2C9B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25" y="9278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FD8455-A2E1-40B3-B6C4-36070AF58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0F53BE70-C6B1-407C-9333-7251BDC77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186" y="9279"/>
            <a:ext cx="5770017" cy="2411171"/>
          </a:xfrm>
          <a:custGeom>
            <a:avLst/>
            <a:gdLst>
              <a:gd name="connsiteX0" fmla="*/ 0 w 5770017"/>
              <a:gd name="connsiteY0" fmla="*/ 0 h 2411171"/>
              <a:gd name="connsiteX1" fmla="*/ 5770017 w 5770017"/>
              <a:gd name="connsiteY1" fmla="*/ 0 h 2411171"/>
              <a:gd name="connsiteX2" fmla="*/ 5715824 w 5770017"/>
              <a:gd name="connsiteY2" fmla="*/ 124746 h 2411171"/>
              <a:gd name="connsiteX3" fmla="*/ 4925072 w 5770017"/>
              <a:gd name="connsiteY3" fmla="*/ 1254414 h 2411171"/>
              <a:gd name="connsiteX4" fmla="*/ 125602 w 5770017"/>
              <a:gd name="connsiteY4" fmla="*/ 1864423 h 2411171"/>
              <a:gd name="connsiteX5" fmla="*/ 0 w 5770017"/>
              <a:gd name="connsiteY5" fmla="*/ 1785927 h 2411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70017" h="2411171">
                <a:moveTo>
                  <a:pt x="0" y="0"/>
                </a:moveTo>
                <a:lnTo>
                  <a:pt x="5770017" y="0"/>
                </a:lnTo>
                <a:lnTo>
                  <a:pt x="5715824" y="124746"/>
                </a:lnTo>
                <a:cubicBezTo>
                  <a:pt x="5526044" y="533784"/>
                  <a:pt x="5262460" y="917027"/>
                  <a:pt x="4925072" y="1254414"/>
                </a:cubicBezTo>
                <a:cubicBezTo>
                  <a:pt x="3623720" y="2555767"/>
                  <a:pt x="1640148" y="2759102"/>
                  <a:pt x="125602" y="1864423"/>
                </a:cubicBezTo>
                <a:lnTo>
                  <a:pt x="0" y="1785927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05864DDE-75C0-4BE6-93FF-A960706AD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frame">
            <a:avLst>
              <a:gd name="adj1" fmla="val 71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BC3FA0F-EAE5-4DCE-ACFF-9AD00ED39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477" y="1131641"/>
            <a:ext cx="5322618" cy="2387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>
                <a:solidFill>
                  <a:srgbClr val="FFFFFF"/>
                </a:solidFill>
                <a:ea typeface="Cambria" panose="02040503050406030204" pitchFamily="18" charset="0"/>
                <a:cs typeface="Sabon Next LT" panose="020B0502040204020203" pitchFamily="2" charset="0"/>
              </a:rPr>
              <a:t>Click to edit Master title style</a:t>
            </a:r>
            <a:endParaRPr lang="en-US" dirty="0">
              <a:solidFill>
                <a:srgbClr val="FFFFFF"/>
              </a:solidFill>
              <a:ea typeface="Cambria" panose="02040503050406030204" pitchFamily="18" charset="0"/>
              <a:cs typeface="Sabon Next LT" panose="020B0502040204020203" pitchFamily="2" charset="0"/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1FA5E0E-BEE1-4976-92B1-61EF64E343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84848" y="905256"/>
            <a:ext cx="4581144" cy="245059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03379FE8-A6CE-4F5A-BE1A-B2267589BE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84848" y="3520440"/>
            <a:ext cx="4581144" cy="245059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D090CA-24E8-46A7-889A-A4FDD00A33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3600450"/>
            <a:ext cx="5322888" cy="24511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65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950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  <p:sldLayoutId id="2147483947" r:id="rId13"/>
    <p:sldLayoutId id="2147483949" r:id="rId14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9A7C78-91FD-4B88-953D-5A4363761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2819" y="661138"/>
            <a:ext cx="10306362" cy="2307300"/>
          </a:xfrm>
        </p:spPr>
        <p:txBody>
          <a:bodyPr anchor="b" anchorCtr="0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Analytics Project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D04BED3-CF2E-4CAD-8CE8-ED3ED12AEB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4000" y="3065352"/>
            <a:ext cx="9144000" cy="507626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| Power BI | Tableau | MySQL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1FCCDB-6A4C-1808-5D8B-BD2BA2DDED25}"/>
              </a:ext>
            </a:extLst>
          </p:cNvPr>
          <p:cNvSpPr txBox="1"/>
          <p:nvPr/>
        </p:nvSpPr>
        <p:spPr>
          <a:xfrm>
            <a:off x="9992264" y="5519754"/>
            <a:ext cx="21997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Arshin Akram</a:t>
            </a:r>
          </a:p>
        </p:txBody>
      </p:sp>
    </p:spTree>
    <p:extLst>
      <p:ext uri="{BB962C8B-B14F-4D97-AF65-F5344CB8AC3E}">
        <p14:creationId xmlns:p14="http://schemas.microsoft.com/office/powerpoint/2010/main" val="703580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57686-487A-4245-814E-58B1C25C6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566BB-9632-4FD7-9FFC-FD3C43D39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882"/>
            <a:ext cx="10515600" cy="4450976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Objectives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 &amp; Preparation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 &amp; Visualizations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&amp; Insights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Conclusion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1898C30-E58E-4EC9-8A27-DF1822A9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346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40347-CF29-7588-8AAF-58400A422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F84A9-4941-5B4C-36A1-D650C44C1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C2333-4C16-65EB-C21D-07B30DC37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882"/>
            <a:ext cx="10515600" cy="4450976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Focus: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Analytics – analyzing banking data, customer transactions and financial data.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Bank Analytics?</a:t>
            </a:r>
          </a:p>
          <a:p>
            <a:pPr marL="790956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detect fraud and unusual activity</a:t>
            </a:r>
          </a:p>
          <a:p>
            <a:pPr marL="790956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insights into customer spending and saving patterns</a:t>
            </a:r>
          </a:p>
          <a:p>
            <a:pPr marL="790956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credit &amp; debit transactions</a:t>
            </a:r>
          </a:p>
          <a:p>
            <a:pPr marL="790956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decision-making at branch and organizational level</a:t>
            </a:r>
          </a:p>
          <a:p>
            <a:pPr algn="just">
              <a:lnSpc>
                <a:spcPct val="10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8BEC3C1-7DBE-2CBA-EE74-D040E29F3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44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0AF4B-C939-01A9-59E7-83DDB7871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F0DBD-7477-54D3-E965-B161AC7F7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932A0-C43E-8B2C-D9F6-060BEE1F1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882"/>
            <a:ext cx="10515600" cy="4450976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Objective:</a:t>
            </a:r>
          </a:p>
          <a:p>
            <a:pPr marL="790956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 and analyze banking data.</a:t>
            </a:r>
          </a:p>
          <a:p>
            <a:pPr marL="790956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interactive dashboards for loan analytics and credit–debit trends.</a:t>
            </a:r>
          </a:p>
          <a:p>
            <a:pPr marL="790956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write SQL queries to extract and analyze key metrics.</a:t>
            </a:r>
          </a:p>
          <a:p>
            <a:pPr marL="790956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meaningful business insights that support better banking decisions.</a:t>
            </a:r>
          </a:p>
          <a:p>
            <a:pPr algn="just">
              <a:lnSpc>
                <a:spcPct val="10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FCCC8C9-D5BC-41C8-98F2-560295891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08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3CA6F-84B8-0AF8-63F2-BD11BD91D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13DF4-FDFB-0FF3-086E-5F1433D34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7727576" cy="76648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E6AA1-9687-2EC5-5F64-35CD2B465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882"/>
            <a:ext cx="10515600" cy="4450976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Coverage: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details (Client ID, Name, Age, Religion)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data (Credit, Debit, Balance)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data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Excel: Pivot tables, charts, dashboards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&amp; Tableau: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dashboards, advanced visuals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MySQL: Data extraction, queries, aggregation &amp; insights</a:t>
            </a:r>
          </a:p>
          <a:p>
            <a:pPr marL="608076" lvl="1" indent="-342900"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E00B8DA-4134-754E-7AB8-48D9CA528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396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C00C7-7DB4-5E3C-8F92-3F9EB60F3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47FAA-55C8-5292-4803-8C0335BAB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7727576" cy="76648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80C34-B2FD-0440-6DDD-CF30A6EE8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882"/>
            <a:ext cx="10515600" cy="4450976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 Developed: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Analytics Dashboard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&amp; Debit Dashboard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Outcomes: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visualization of loan and transaction patterns.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insights for customer behavior &amp; financial management.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A531783-980D-3185-797F-4A81D6FFB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174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64FB2-36FF-3FD7-AE4C-A48AF91AD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20BB-8871-D149-6987-B8333F1E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14399"/>
            <a:ext cx="10281249" cy="7664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D8474-9715-F14E-1E5C-163FD4D4B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882"/>
            <a:ext cx="10515600" cy="4450976"/>
          </a:xfrm>
        </p:spPr>
        <p:txBody>
          <a:bodyPr>
            <a:normAutofit lnSpcReduction="10000"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Used: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Analytics Dataset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Rich loan-level data with customer demographics, loan amount, funded amount, interest, principal, loan status, categories, repayment details, and branch information.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&amp; Debit Dataset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transaction data including credits, debits, balance, transaction date, method, branch, and bank details.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Cleaning: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duplicate records and handled missing values.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formats. (dates, amounts, currency)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clean, structured datasets ready for analysis &amp; visualization.</a:t>
            </a:r>
          </a:p>
          <a:p>
            <a:pPr algn="just">
              <a:lnSpc>
                <a:spcPct val="10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CB3C495-EF5F-BD9A-E8D3-C15DDD32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724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FA834-82C0-67F3-6F94-E3CBFA87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D87C0-B6FD-6AB3-1F35-8B9273AB3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441" y="578226"/>
            <a:ext cx="10511118" cy="48409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- excel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183A1D6-B07D-71C8-8355-D89BCDCDA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A048E0-FAF5-D5B0-49C1-D44C98CE87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4" t="30000" r="13971" b="10980"/>
          <a:stretch>
            <a:fillRect/>
          </a:stretch>
        </p:blipFill>
        <p:spPr>
          <a:xfrm>
            <a:off x="562535" y="1062318"/>
            <a:ext cx="11066930" cy="521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93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1FA65-4A4C-AFD1-1DFD-5D5D1A794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92651-1F7F-8C65-0412-11BC88C87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441" y="578226"/>
            <a:ext cx="10511118" cy="48409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- excel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18F0BA1-2E6D-9AE0-9E87-F5BC418F2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5024EE-7608-4B04-3AC0-C18B7035DD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4" t="26667" r="9080" b="11824"/>
          <a:stretch>
            <a:fillRect/>
          </a:stretch>
        </p:blipFill>
        <p:spPr>
          <a:xfrm>
            <a:off x="543464" y="1062319"/>
            <a:ext cx="11093569" cy="521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010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6D4C1-C8F0-D020-1515-C2F252849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6DDF9-4251-CBF2-CE75-EB70F8387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441" y="578226"/>
            <a:ext cx="10511118" cy="48409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– Power bi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48D424E-9E74-37F7-1D33-68F51A61A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569C90-85FF-690A-3730-C6C2B168B6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43" t="18824" r="13860" b="7255"/>
          <a:stretch>
            <a:fillRect/>
          </a:stretch>
        </p:blipFill>
        <p:spPr>
          <a:xfrm>
            <a:off x="543465" y="1062320"/>
            <a:ext cx="11102196" cy="521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215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4C069-D1CA-FDB6-058D-FCF238941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7143E-1369-2074-72CD-34DD227F6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441" y="578226"/>
            <a:ext cx="10511118" cy="48409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– Power bi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0F94011-44E5-C142-BDDB-2013057F5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3DEF94-84A5-1B1D-FFF8-62F0D0DD3A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43" t="18823" r="13970" b="7412"/>
          <a:stretch>
            <a:fillRect/>
          </a:stretch>
        </p:blipFill>
        <p:spPr>
          <a:xfrm>
            <a:off x="596152" y="1062319"/>
            <a:ext cx="10999693" cy="521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186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65639-FE3B-D35D-F8A2-1D140BA00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5B0D1-AE99-D37F-8A86-7FC1B660C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441" y="578226"/>
            <a:ext cx="10511118" cy="48409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– Power bi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51DFE2A-EFF0-B2B7-7CE4-2A3CE3F5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5F1D88-9A47-EBDF-BD9D-0231C279B9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43" t="19412" r="13860" b="8431"/>
          <a:stretch>
            <a:fillRect/>
          </a:stretch>
        </p:blipFill>
        <p:spPr>
          <a:xfrm>
            <a:off x="602876" y="1062319"/>
            <a:ext cx="10986247" cy="521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34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E748E-BA26-3953-62B6-A592CEB8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4AE4-478E-D798-51FE-381BEC99B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441" y="578226"/>
            <a:ext cx="10511118" cy="48409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– Power bi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FCA8517-C30D-B287-246F-B3F5AAE31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88B889-D3A3-3056-5BE9-A0D4057628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23" t="18824" r="17085" b="8431"/>
          <a:stretch>
            <a:fillRect/>
          </a:stretch>
        </p:blipFill>
        <p:spPr>
          <a:xfrm>
            <a:off x="840441" y="1062319"/>
            <a:ext cx="10511118" cy="521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9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AE0EF-8625-751A-2F8F-DB0D26B73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B07F9-1EA8-EBD9-F74F-2DA5A634F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441" y="578226"/>
            <a:ext cx="10511118" cy="48409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– tableau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B3F05BB-4962-1093-669B-5456771E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AD9465-765A-8AE1-5F64-1CA4E5B093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87" t="14892" b="5647"/>
          <a:stretch>
            <a:fillRect/>
          </a:stretch>
        </p:blipFill>
        <p:spPr>
          <a:xfrm>
            <a:off x="558924" y="1062319"/>
            <a:ext cx="11074152" cy="524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843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0D285-C80B-DD0C-D25F-3A00B2498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B22F7-3E04-DAB0-2518-1AA5CC170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441" y="578226"/>
            <a:ext cx="10511118" cy="48409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– tableau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7FFC97C-5E67-1DD6-25A4-6337BCC7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0FEB1-85DA-7F5A-6775-6ED5CECDA0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3" t="14074" b="5647"/>
          <a:stretch>
            <a:fillRect/>
          </a:stretch>
        </p:blipFill>
        <p:spPr>
          <a:xfrm>
            <a:off x="527050" y="1062319"/>
            <a:ext cx="11137900" cy="521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54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719D1-3786-1D87-25B3-D2953EA50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85B1F-329A-7C9A-A34A-711B6C8F0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441" y="578226"/>
            <a:ext cx="10511118" cy="484093"/>
          </a:xfrm>
        </p:spPr>
        <p:txBody>
          <a:bodyPr>
            <a:noAutofit/>
          </a:bodyPr>
          <a:lstStyle/>
          <a:p>
            <a:pPr algn="ctr"/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Bank Analytics queries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034F84A-0971-4024-7D00-1912DB1D6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98D1739-65CF-F640-7EA7-755D799BD4D0}"/>
              </a:ext>
            </a:extLst>
          </p:cNvPr>
          <p:cNvSpPr/>
          <p:nvPr/>
        </p:nvSpPr>
        <p:spPr>
          <a:xfrm>
            <a:off x="6535074" y="3276832"/>
            <a:ext cx="1224951" cy="3043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906E9F-3EFE-6131-6DF6-6B1250346F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13" t="17987" r="43184" b="26667"/>
          <a:stretch>
            <a:fillRect/>
          </a:stretch>
        </p:blipFill>
        <p:spPr>
          <a:xfrm>
            <a:off x="840441" y="1228311"/>
            <a:ext cx="5327446" cy="50514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D0A1BF-2814-3897-73D6-0D53841B10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42" t="53333" r="75377" b="42390"/>
          <a:stretch>
            <a:fillRect/>
          </a:stretch>
        </p:blipFill>
        <p:spPr>
          <a:xfrm>
            <a:off x="8480894" y="1559333"/>
            <a:ext cx="1603384" cy="4068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ADAFDE-4822-1A16-12D9-269E50031C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00" t="53333" r="74245" b="42013"/>
          <a:stretch>
            <a:fillRect/>
          </a:stretch>
        </p:blipFill>
        <p:spPr>
          <a:xfrm>
            <a:off x="8488929" y="2538464"/>
            <a:ext cx="1706901" cy="4154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A69C279-BB2B-587A-B5E7-F9D39F484F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788" t="53208" r="73892" b="41886"/>
          <a:stretch>
            <a:fillRect/>
          </a:stretch>
        </p:blipFill>
        <p:spPr>
          <a:xfrm>
            <a:off x="8480894" y="3464709"/>
            <a:ext cx="1704592" cy="41549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BB1B5E4-E860-9B33-8EA3-5EB6988F94C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000" t="53333" r="70424" b="24403"/>
          <a:stretch>
            <a:fillRect/>
          </a:stretch>
        </p:blipFill>
        <p:spPr>
          <a:xfrm>
            <a:off x="8116866" y="4189587"/>
            <a:ext cx="2528130" cy="209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530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C01CC-4E8D-A33D-892D-E84A4E1D3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07360-3121-6567-4C2C-D92860F42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441" y="578226"/>
            <a:ext cx="10511118" cy="484093"/>
          </a:xfrm>
        </p:spPr>
        <p:txBody>
          <a:bodyPr>
            <a:noAutofit/>
          </a:bodyPr>
          <a:lstStyle/>
          <a:p>
            <a:pPr algn="ctr"/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Credit and debit queries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8AED47B-5021-6F8B-3247-D91D6F44B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0078F-ADAF-A8E2-A348-A38FAA3B33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13" t="20125" r="38656" b="29308"/>
          <a:stretch>
            <a:fillRect/>
          </a:stretch>
        </p:blipFill>
        <p:spPr>
          <a:xfrm>
            <a:off x="840441" y="1190444"/>
            <a:ext cx="6100122" cy="4796287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FD23118E-5D6C-9FEF-A6AD-E37879B6303B}"/>
              </a:ext>
            </a:extLst>
          </p:cNvPr>
          <p:cNvSpPr/>
          <p:nvPr/>
        </p:nvSpPr>
        <p:spPr>
          <a:xfrm>
            <a:off x="6940563" y="3436419"/>
            <a:ext cx="1224951" cy="3043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713D21-9B3B-210A-0B39-50CF984FA7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071" t="53208" r="74740" b="41886"/>
          <a:stretch>
            <a:fillRect/>
          </a:stretch>
        </p:blipFill>
        <p:spPr>
          <a:xfrm>
            <a:off x="9066362" y="1438765"/>
            <a:ext cx="1787418" cy="4840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CDDAF3-8ADB-063B-5755-3D73A10B4F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859" t="52704" r="75094" b="42139"/>
          <a:stretch>
            <a:fillRect/>
          </a:stretch>
        </p:blipFill>
        <p:spPr>
          <a:xfrm>
            <a:off x="9066362" y="2265576"/>
            <a:ext cx="1676613" cy="4840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DE0FD5-C3D9-6994-1DF6-BA361096EE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859" t="52579" r="69009" b="32075"/>
          <a:stretch>
            <a:fillRect/>
          </a:stretch>
        </p:blipFill>
        <p:spPr>
          <a:xfrm>
            <a:off x="8725268" y="3219937"/>
            <a:ext cx="2510774" cy="13434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9C375E-8480-AA8C-F4BD-DF8829D297D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071" t="52956" r="68160" b="32076"/>
          <a:stretch>
            <a:fillRect/>
          </a:stretch>
        </p:blipFill>
        <p:spPr>
          <a:xfrm>
            <a:off x="8725268" y="4786358"/>
            <a:ext cx="2671979" cy="134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45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E2982-2B0C-8881-B1FF-5B1DBE71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35581-74B0-11B2-E886-144CBA29F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9300882" cy="76648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D4731-076C-23EE-CFAE-125D177A4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882"/>
            <a:ext cx="10515600" cy="4450976"/>
          </a:xfrm>
        </p:spPr>
        <p:txBody>
          <a:bodyPr>
            <a:normAutofit lnSpcReduction="10000"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Analytics Dashboard: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loans concentrated in specific age groups and regions.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purpose categories (like Home Loan, Services, Business) show higher loan demand.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Noticeable number of delinquent/default loans, highlighting risk areas.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gaps in loan approval process identified.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&amp; Debit Dashboard: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transactions outweigh debit in some branches, indicating surplus cash flow.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Branch-level differences in transaction.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frequency of Debit Card transactions.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algn="just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C32708E-103A-EFA8-5E97-0E03AA10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810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23572-ADD1-4A2D-7214-D2114521D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3FE83-28DD-A051-0AAD-69C2849A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9300882" cy="76648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F22FA-D769-9686-A7DF-6180E7618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882"/>
            <a:ext cx="10515600" cy="4450976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Monitoring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High-value debit transactions (₹4,500+) can serve as potential fraud flags.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Loan demand is higher among working-age customers, while older customers maintain stronger balances.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Branch-Level Performance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Some branches show stronger credit inflows, while others have higher debit activity.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Behavior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Debit cards dominate transaction frequency.</a:t>
            </a:r>
          </a:p>
          <a:p>
            <a:pPr marL="608076" lvl="1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algn="just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79A6768-363C-F674-2193-93B308FF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677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CED00-93D6-EA52-9129-77B01BE47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9164E-DCE0-FC63-5CC1-DA496DB22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9300882" cy="76648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C9C40-8AE6-81B6-6A78-71E7F0542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882"/>
            <a:ext cx="10515600" cy="4450976"/>
          </a:xfrm>
        </p:spPr>
        <p:txBody>
          <a:bodyPr>
            <a:normAutofit/>
          </a:bodyPr>
          <a:lstStyle/>
          <a:p>
            <a:pPr marL="608076" lvl="1" indent="-34290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Issues – Duplicates, missing values and inconsistent entries had to be cleaned before analysis.</a:t>
            </a:r>
          </a:p>
          <a:p>
            <a:pPr marL="608076" lvl="1" indent="-34290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Dataset Structure – The Bank Analytics dataset had many columns which made selecting relevant fields difficult.</a:t>
            </a:r>
          </a:p>
          <a:p>
            <a:pPr marL="608076" lvl="1" indent="-34290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Meaningful KPIs – Translating raw data into metrics (loan default rates, debit vs credit trends, age distribution) required multiple iterations.</a:t>
            </a:r>
          </a:p>
          <a:p>
            <a:pPr marL="608076" lvl="1" indent="-34290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Balance – Ensuring dashboards were not only data-rich but also simple and user-friendly was a constant refinement task.</a:t>
            </a:r>
          </a:p>
          <a:p>
            <a:pPr marL="608076" lvl="1" indent="-34290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 Loading Errors – Initial data load was incomplete, leading to wrong query results. We had to reload both datasets to get accurate insights.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555D23C-2636-2C53-052E-1730E3C33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487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CE75E-BADB-9E91-22F4-E92BB3E4E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11E7B-C054-BF35-E506-F53A93BC5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9300882" cy="76648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982BB-A3EF-024E-4E0C-7C7D8361B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882"/>
            <a:ext cx="10515600" cy="4450976"/>
          </a:xfrm>
        </p:spPr>
        <p:txBody>
          <a:bodyPr>
            <a:normAutofit/>
          </a:bodyPr>
          <a:lstStyle/>
          <a:p>
            <a:pPr lvl="1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 Analytics and Credit–Debit dashboards provided a clear understanding of customer financial behavior and loan management patterns. Through this analysis, we observed that:</a:t>
            </a:r>
          </a:p>
          <a:p>
            <a:pPr marL="608076" lvl="1" indent="-34290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demand is concentrated among working-age customers, primarily for business and personal purposes.</a:t>
            </a:r>
          </a:p>
          <a:p>
            <a:pPr marL="608076" lvl="1" indent="-34290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most loans are successfully disbursed, the presence of delinquent and default cases highlights the need for stricter verification and monitoring mechanisms.</a:t>
            </a:r>
          </a:p>
          <a:p>
            <a:pPr marL="608076" lvl="1" indent="-34290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analysis revealed that debit transactions occur more frequently, but credit transactions hold higher value, reflecting diverse customer spending and saving patterns.</a:t>
            </a:r>
          </a:p>
          <a:p>
            <a:pPr lvl="1" indent="0" algn="just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C46EE37-B4EC-73E5-1E6D-68DC83B8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235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71A8E93-3A04-6C19-13E6-F4CC64290A62}"/>
              </a:ext>
            </a:extLst>
          </p:cNvPr>
          <p:cNvSpPr txBox="1"/>
          <p:nvPr/>
        </p:nvSpPr>
        <p:spPr>
          <a:xfrm>
            <a:off x="3009900" y="3044279"/>
            <a:ext cx="6172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931966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AFE2A1-77F8-441E-9B9F-DD61C354F4F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CF4B188-9E41-4609-81DC-EA2587D009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052644-F409-493B-8E91-969D43897F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640</TotalTime>
  <Words>742</Words>
  <Application>Microsoft Office PowerPoint</Application>
  <PresentationFormat>Widescreen</PresentationFormat>
  <Paragraphs>112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Cambria</vt:lpstr>
      <vt:lpstr>Courier New</vt:lpstr>
      <vt:lpstr>Times New Roman</vt:lpstr>
      <vt:lpstr>Tw Cen MT</vt:lpstr>
      <vt:lpstr>Tw Cen MT Condensed</vt:lpstr>
      <vt:lpstr>Wingdings 3</vt:lpstr>
      <vt:lpstr>Integral</vt:lpstr>
      <vt:lpstr>Bank Analytics Project</vt:lpstr>
      <vt:lpstr>Agenda</vt:lpstr>
      <vt:lpstr>Introduction</vt:lpstr>
      <vt:lpstr>Objectives</vt:lpstr>
      <vt:lpstr>Project scope</vt:lpstr>
      <vt:lpstr>Project scope</vt:lpstr>
      <vt:lpstr>Data description &amp; Preparation</vt:lpstr>
      <vt:lpstr>Dashboard - excel</vt:lpstr>
      <vt:lpstr>Dashboard - excel</vt:lpstr>
      <vt:lpstr>Dashboard – Power bi</vt:lpstr>
      <vt:lpstr>Dashboard – Power bi</vt:lpstr>
      <vt:lpstr>Dashboard – Power bi</vt:lpstr>
      <vt:lpstr>Dashboard – Power bi</vt:lpstr>
      <vt:lpstr>Dashboard – tableau</vt:lpstr>
      <vt:lpstr>Dashboard – tableau</vt:lpstr>
      <vt:lpstr>Mysql – Bank Analytics queries</vt:lpstr>
      <vt:lpstr>Mysql – Credit and debit queries</vt:lpstr>
      <vt:lpstr>Key findings</vt:lpstr>
      <vt:lpstr>OVERALL Insights</vt:lpstr>
      <vt:lpstr>Challenges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Arshin Akram</dc:creator>
  <cp:lastModifiedBy>Arshin Akram</cp:lastModifiedBy>
  <cp:revision>28</cp:revision>
  <dcterms:created xsi:type="dcterms:W3CDTF">2025-08-23T16:07:12Z</dcterms:created>
  <dcterms:modified xsi:type="dcterms:W3CDTF">2025-12-12T10:19:54Z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